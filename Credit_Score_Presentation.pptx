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PpEqpDo3ZLLFz/ClxUe8pY91u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7EAF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7EAF0"/>
                </a:solidFill>
                <a:latin typeface="Calibri"/>
              </a:rPr>
              <a:t>Credit Score Class Balance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Credit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ln w="25400" cap="flat">
                <a:solidFill>
                  <a:srgbClr val="0A0E1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ln w="25400" cap="flat">
                <a:solidFill>
                  <a:srgbClr val="0A0E1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2C55E"/>
              </a:solidFill>
              <a:ln w="25400" cap="flat">
                <a:solidFill>
                  <a:srgbClr val="0A0E1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E1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E1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E1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Standard</c:v>
                </c:pt>
                <c:pt idx="1">
                  <c:v>Poor</c:v>
                </c:pt>
                <c:pt idx="2">
                  <c:v>Good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53.17</c:v>
                </c:pt>
                <c:pt idx="1">
                  <c:v>29</c:v>
                </c:pt>
                <c:pt idx="2">
                  <c:v>17.83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B93A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7EAF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7EAF0"/>
                </a:solidFill>
                <a:latin typeface="Calibri"/>
              </a:rPr>
              <a:t>Test-Set Performance by Model (%, macro-avg)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Gaussian NB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60.34</c:v>
                </c:pt>
                <c:pt idx="1">
                  <c:v>61.62</c:v>
                </c:pt>
                <c:pt idx="2">
                  <c:v>72.36</c:v>
                </c:pt>
                <c:pt idx="3">
                  <c:v>72.71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Gaussian NB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65.71</c:v>
                </c:pt>
                <c:pt idx="1">
                  <c:v>62.38</c:v>
                </c:pt>
                <c:pt idx="2">
                  <c:v>75.19</c:v>
                </c:pt>
                <c:pt idx="3">
                  <c:v>72.75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Gaussian NB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55.97</c:v>
                </c:pt>
                <c:pt idx="1">
                  <c:v>61.98</c:v>
                </c:pt>
                <c:pt idx="2">
                  <c:v>73.45</c:v>
                </c:pt>
                <c:pt idx="3">
                  <c:v>72.71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3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2B3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93A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B93A7"/>
                    </a:solidFill>
                    <a:latin typeface="Arial"/>
                  </a:rPr>
                  <a:t>Score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3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B93A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7EAF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7EAF0"/>
                </a:solidFill>
                <a:latin typeface="Calibri"/>
              </a:rPr>
              <a:t>Training vs. Test F1 Score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F1</c:v>
                </c:pt>
              </c:strCache>
            </c:strRef>
          </c:tx>
          <c:spPr>
            <a:solidFill>
              <a:srgbClr val="3B486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7EA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Gaussian NB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56.03</c:v>
                </c:pt>
                <c:pt idx="1">
                  <c:v>100</c:v>
                </c:pt>
                <c:pt idx="2">
                  <c:v>100</c:v>
                </c:pt>
                <c:pt idx="3">
                  <c:v>80.45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7EA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Gaussian NB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55.97</c:v>
                </c:pt>
                <c:pt idx="1">
                  <c:v>61.98</c:v>
                </c:pt>
                <c:pt idx="2">
                  <c:v>73.45</c:v>
                </c:pt>
                <c:pt idx="3">
                  <c:v>72.71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E7EA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3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2B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3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B93A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40080" y="1417320"/>
            <a:ext cx="5285232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640080" y="1417320"/>
            <a:ext cx="5285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MACHINE LEARNING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40080" y="187452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Credit Score</a:t>
            </a:r>
            <a:br>
              <a:rPr b="1" i="0" lang="en-US" sz="44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4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Prediction System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40080" y="3703320"/>
            <a:ext cx="6949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An end-to-end machine learning system that classifies customers into Good, Standard, or Poor credit score tiers using their financial behaviour, credit history, and payment patterns.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Presented by  </a:t>
            </a:r>
            <a:r>
              <a:rPr b="1" lang="en-US" sz="1300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Mahmoud Mansour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072677" y="1986077"/>
            <a:ext cx="2611526" cy="2611526"/>
          </a:xfrm>
          <a:prstGeom prst="ellipse">
            <a:avLst/>
          </a:prstGeom>
          <a:solidFill>
            <a:srgbClr val="FB923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9418320" y="2331720"/>
            <a:ext cx="1920240" cy="192024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creditcard.png" id="23" name="Google Shape;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7582" y="2830982"/>
            <a:ext cx="921715" cy="92171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 txBox="1"/>
          <p:nvPr/>
        </p:nvSpPr>
        <p:spPr>
          <a:xfrm>
            <a:off x="8321040" y="4434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AI Credit Intelligence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8321040" y="477316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Accurate  ·  Explainable  ·  Data-Driven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640080" y="502920"/>
            <a:ext cx="2670048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640080" y="502920"/>
            <a:ext cx="2670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Why Credit Scoring Matters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640080" y="1783080"/>
            <a:ext cx="5029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Lenders need to judge repayment risk for every applicant, fast and consistently. Manual, rule-of-thumb credit assessment doesn't scale — and small inconsistencies cost real money.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warning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726" y="43031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 txBox="1"/>
          <p:nvPr/>
        </p:nvSpPr>
        <p:spPr>
          <a:xfrm>
            <a:off x="1371600" y="420624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A wrong call is costly either 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126480" y="178308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flask.png" id="39" name="Google Shape;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7239" y="191383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/>
          <p:nvPr/>
        </p:nvSpPr>
        <p:spPr>
          <a:xfrm>
            <a:off x="6812280" y="175564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Data-driven, not guesswork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6812280" y="2039112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A model learns real repayment patterns from 100,000 historical customer records instead of fixed rules.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126480" y="320040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chartline.png"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7239" y="33311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 txBox="1"/>
          <p:nvPr/>
        </p:nvSpPr>
        <p:spPr>
          <a:xfrm>
            <a:off x="6812280" y="317296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Consistent at 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6812280" y="3456432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Every applicant is scored the same way, instantly — no reviewer fatigue or bias drift.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balance.png"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7239" y="474847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 txBox="1"/>
          <p:nvPr/>
        </p:nvSpPr>
        <p:spPr>
          <a:xfrm>
            <a:off x="6812280" y="459028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Balances risk &amp; inclusion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6812280" y="4873752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Good classification catches risky applicants without unfairly rejecting reliable ones.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640080" y="502920"/>
            <a:ext cx="2066544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 txBox="1"/>
          <p:nvPr/>
        </p:nvSpPr>
        <p:spPr>
          <a:xfrm>
            <a:off x="640080" y="502920"/>
            <a:ext cx="20665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640080" y="9601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Monthly financial snapshots per customer — income, loans, credit cards, payment history, and behaviour — labelled with their credit score tier.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40080" y="2377440"/>
            <a:ext cx="2514600" cy="1417320"/>
          </a:xfrm>
          <a:prstGeom prst="roundRect">
            <a:avLst>
              <a:gd fmla="val 7742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 txBox="1"/>
          <p:nvPr/>
        </p:nvSpPr>
        <p:spPr>
          <a:xfrm>
            <a:off x="841248" y="2523744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TOTAL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841248" y="2798064"/>
            <a:ext cx="2112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100,000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841248" y="3429000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customer-month rows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383280" y="2377440"/>
            <a:ext cx="2514600" cy="1417320"/>
          </a:xfrm>
          <a:prstGeom prst="roundRect">
            <a:avLst>
              <a:gd fmla="val 7742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3584448" y="2523744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RAW COLUMNS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3584448" y="2798064"/>
            <a:ext cx="2112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3584448" y="3429000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→ 23 features after cleaning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126480" y="2377440"/>
            <a:ext cx="2514600" cy="1417320"/>
          </a:xfrm>
          <a:prstGeom prst="roundRect">
            <a:avLst>
              <a:gd fmla="val 7742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6327648" y="2523744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TIME SPAN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6327648" y="2798064"/>
            <a:ext cx="2112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8 Months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6327648" y="3429000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January – August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869680" y="2377440"/>
            <a:ext cx="2514600" cy="1417320"/>
          </a:xfrm>
          <a:prstGeom prst="roundRect">
            <a:avLst>
              <a:gd fmla="val 7742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9070848" y="2523744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TARGET CLASSES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9070848" y="2798064"/>
            <a:ext cx="2112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9070848" y="3429000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Good · Standard · Poor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database.png" id="78" name="Google Shape;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726" y="444032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 txBox="1"/>
          <p:nvPr/>
        </p:nvSpPr>
        <p:spPr>
          <a:xfrm>
            <a:off x="1371600" y="42062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Feature groups: </a:t>
            </a:r>
            <a:r>
              <a:rPr b="0" i="0" lang="en-US" sz="13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17 numerical features (income, balances, counts, ratios) and 6 categorical features (occupation, loan type, payment behaviour, credit mix, month, minimum-payment flag).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640080" y="5257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Target distribution is imbalanced: Standard 53.2%  ·  Poor 29.0%  ·  Good 17.8%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640080" y="502920"/>
            <a:ext cx="3072384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640080" y="502920"/>
            <a:ext cx="30723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640080" y="9601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Taming Messy Real-World 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640080" y="16002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Raw fields were riddled with corrupted strings, placeholder junk, and mixed types. Every column below needed a custom cleaning rule before it was model-ready.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640080" y="23317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3246120" y="23317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Raw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6263640" y="23317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Cleaned 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4"/>
          <p:cNvCxnSpPr/>
          <p:nvPr/>
        </p:nvCxnSpPr>
        <p:spPr>
          <a:xfrm>
            <a:off x="640080" y="2697480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4"/>
          <p:cNvSpPr txBox="1"/>
          <p:nvPr/>
        </p:nvSpPr>
        <p:spPr>
          <a:xfrm>
            <a:off x="640080" y="2834640"/>
            <a:ext cx="24688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3246120" y="2834640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"-500" / "23_"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6263640" y="2834640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23 (outlier removed)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640080" y="3328416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4"/>
          <p:cNvSpPr txBox="1"/>
          <p:nvPr/>
        </p:nvSpPr>
        <p:spPr>
          <a:xfrm>
            <a:off x="640080" y="3401568"/>
            <a:ext cx="24688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Occupation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3246120" y="3401568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"_______"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6263640" y="3401568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→ treated as missing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4"/>
          <p:cNvCxnSpPr/>
          <p:nvPr/>
        </p:nvCxnSpPr>
        <p:spPr>
          <a:xfrm>
            <a:off x="640080" y="3895344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4"/>
          <p:cNvSpPr txBox="1"/>
          <p:nvPr/>
        </p:nvSpPr>
        <p:spPr>
          <a:xfrm>
            <a:off x="640080" y="3968496"/>
            <a:ext cx="24688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Credit_Mix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3246120" y="3968496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"_"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263640" y="3968496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→ treated as missing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640080" y="446227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4"/>
          <p:cNvSpPr txBox="1"/>
          <p:nvPr/>
        </p:nvSpPr>
        <p:spPr>
          <a:xfrm>
            <a:off x="640080" y="4535424"/>
            <a:ext cx="24688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Credit_History_Age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3246120" y="4535424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"22 Years and 1 Months"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6263640" y="4535424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265 (months)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640080" y="5029200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 txBox="1"/>
          <p:nvPr/>
        </p:nvSpPr>
        <p:spPr>
          <a:xfrm>
            <a:off x="640080" y="5102352"/>
            <a:ext cx="24688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Outstanding_Debt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3246120" y="5102352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"1234_56"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263640" y="5102352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1234.56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640080" y="5596128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4"/>
          <p:cNvSpPr txBox="1"/>
          <p:nvPr/>
        </p:nvSpPr>
        <p:spPr>
          <a:xfrm>
            <a:off x="640080" y="5669280"/>
            <a:ext cx="24688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Payment_Behaviour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3246120" y="5669280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"!@9#%8"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6263640" y="5669280"/>
            <a:ext cx="2880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→ treated as missing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640080" y="502920"/>
            <a:ext cx="5486400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640080" y="50292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640080" y="9601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Data Insights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640080" y="16002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Understanding class balance is the first step — it shapes every modelling decision that follows.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5"/>
          <p:cNvGraphicFramePr/>
          <p:nvPr/>
        </p:nvGraphicFramePr>
        <p:xfrm>
          <a:off x="457200" y="2148840"/>
          <a:ext cx="5394960" cy="4114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1" name="Google Shape;131;p5"/>
          <p:cNvSpPr/>
          <p:nvPr/>
        </p:nvSpPr>
        <p:spPr>
          <a:xfrm>
            <a:off x="6263640" y="228600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chartpie.png" id="132" name="Google Shape;1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4399" y="24167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6949440" y="2258568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Standard dominates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6949440" y="2542032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Over half of all customers (53%) fall into the Standard tier — a naive model could exploit this.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263640" y="361188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balance.png" id="136" name="Google Shape;13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4399" y="374263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6949440" y="3584448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Real imbalance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6949440" y="3867912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Good customers are the minority class (18%) — the hardest to recall correctly.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263640" y="493776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flask.png" id="140" name="Google Shape;14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4399" y="506851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6949440" y="4910328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SMOTE was necessary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6949440" y="5193792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Training folds are rebalanced with SMOTE so the model doesn't ignore the minority classes.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640080" y="502920"/>
            <a:ext cx="3072384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640080" y="502920"/>
            <a:ext cx="30723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640080" y="9601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From Raw Data to Model-Ready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640080" y="16002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A single pipeline handles cleaning, encoding, scaling, and class balancing — fit once, applied consistently to every prediction.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40080" y="2743200"/>
            <a:ext cx="1874520" cy="1828800"/>
          </a:xfrm>
          <a:prstGeom prst="roundRect">
            <a:avLst>
              <a:gd fmla="val 600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1257300" y="301752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database.png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3721" y="31839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713232" y="3794760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713232" y="4114800"/>
            <a:ext cx="17282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100k rows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28 columns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2514600" y="324612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770632" y="2743200"/>
            <a:ext cx="1874520" cy="1828800"/>
          </a:xfrm>
          <a:prstGeom prst="roundRect">
            <a:avLst>
              <a:gd fmla="val 600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387852" y="301752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broom.png" id="162" name="Google Shape;1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4273" y="31839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 txBox="1"/>
          <p:nvPr/>
        </p:nvSpPr>
        <p:spPr>
          <a:xfrm>
            <a:off x="2843784" y="3794760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Cleaning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2843784" y="4114800"/>
            <a:ext cx="17282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Fix types,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handle outliers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4645152" y="324612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901184" y="2743200"/>
            <a:ext cx="1874520" cy="1828800"/>
          </a:xfrm>
          <a:prstGeom prst="roundRect">
            <a:avLst>
              <a:gd fmla="val 600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518404" y="301752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layers.png" id="168" name="Google Shape;16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4825" y="31839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/>
          <p:nvPr/>
        </p:nvSpPr>
        <p:spPr>
          <a:xfrm>
            <a:off x="4974336" y="3794760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Encode &amp;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4974336" y="4114800"/>
            <a:ext cx="17282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Numeric 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categorical pipes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6775704" y="324612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031736" y="2743200"/>
            <a:ext cx="1874520" cy="1828800"/>
          </a:xfrm>
          <a:prstGeom prst="roundRect">
            <a:avLst>
              <a:gd fmla="val 600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7648956" y="301752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balance.png" id="174" name="Google Shape;17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5377" y="31839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 txBox="1"/>
          <p:nvPr/>
        </p:nvSpPr>
        <p:spPr>
          <a:xfrm>
            <a:off x="7104888" y="3794760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SMOTE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7104888" y="4114800"/>
            <a:ext cx="17282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Balance the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3 classes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8906256" y="324612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9162288" y="2743200"/>
            <a:ext cx="1874520" cy="1828800"/>
          </a:xfrm>
          <a:prstGeom prst="roundRect">
            <a:avLst>
              <a:gd fmla="val 600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9779508" y="301752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flask.png" id="180" name="Google Shape;18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45929" y="31839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 txBox="1"/>
          <p:nvPr/>
        </p:nvSpPr>
        <p:spPr>
          <a:xfrm>
            <a:off x="9235440" y="3794760"/>
            <a:ext cx="1728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9235440" y="4114800"/>
            <a:ext cx="17282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Why SMOTE, not just class weights?  </a:t>
            </a:r>
            <a:r>
              <a:rPr b="0" i="0" lang="en-US" sz="12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Oversampling the minority classes inside the training folds gave every algorithm a fair, comparable shot at learning Good and Poor customers, not just the dominant Standard tier.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640080" y="502920"/>
            <a:ext cx="4279392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640080" y="502920"/>
            <a:ext cx="4279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EXPERIMENT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640080" y="9601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640080" y="16002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Four algorithms benchmarked with 5-fold cross-validation on SMOTE-balanced data. All scores are macro-averaged on the held-out test set.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7"/>
          <p:cNvGraphicFramePr/>
          <p:nvPr/>
        </p:nvGraphicFramePr>
        <p:xfrm>
          <a:off x="548640" y="2194560"/>
          <a:ext cx="11064240" cy="4114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96" name="Google Shape;196;p7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★ Random Forest was selected for production — see next slides.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640080" y="502920"/>
            <a:ext cx="3877056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640080" y="502920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MODEL DIAGNOSTICS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640080" y="9601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Train vs. Test — Overfitting Check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640080" y="16002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A model that memorizes training data but fails on new data is useless in production. F1 score, compared across train and test sets, exposes that gap.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8" name="Google Shape;208;p8"/>
          <p:cNvGraphicFramePr/>
          <p:nvPr/>
        </p:nvGraphicFramePr>
        <p:xfrm>
          <a:off x="548640" y="2194560"/>
          <a:ext cx="11064300" cy="37491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09" name="Google Shape;209;p8"/>
          <p:cNvSpPr txBox="1"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Decision Tree and Random Forest hit 100% on training data — expected for fully-grown trees. What matters is the test score, where Random Forest and XGBoost clearly generalize best.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640080" y="502920"/>
            <a:ext cx="3877056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640080" y="502920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TUNING EXPERIMENT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640080" y="9601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When Tuning Backfires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640080" y="160020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A RandomizedSearchCV over max_depth [5,6,7] and n_estimators [50,100,200] found "better" cross-validation params — but they underperformed on the real test set.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40080" y="2514600"/>
            <a:ext cx="5120640" cy="2286000"/>
          </a:xfrm>
          <a:prstGeom prst="roundRect">
            <a:avLst>
              <a:gd fmla="val 480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841248" y="2660904"/>
            <a:ext cx="4718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TUNED RANDOM FOREST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841248" y="2935224"/>
            <a:ext cx="471830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65.76%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841248" y="4434840"/>
            <a:ext cx="4718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Test F1 (macro)  ·  max_depth=7, n_estimators=100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822960" y="4206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Constrained depth → underfit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035040" y="2514600"/>
            <a:ext cx="5120640" cy="2286000"/>
          </a:xfrm>
          <a:prstGeom prst="roundRect">
            <a:avLst>
              <a:gd fmla="val 480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 txBox="1"/>
          <p:nvPr/>
        </p:nvSpPr>
        <p:spPr>
          <a:xfrm>
            <a:off x="6236208" y="2660904"/>
            <a:ext cx="4718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DEFAULT RANDOM FOREST 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6236208" y="2935224"/>
            <a:ext cx="471830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73.45%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6236208" y="4434840"/>
            <a:ext cx="4718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Test F1 (macro)  ·  fully-grown trees, no depth limit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6217920" y="4206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Kept for production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40080" y="5029200"/>
            <a:ext cx="10515600" cy="1097280"/>
          </a:xfrm>
          <a:prstGeom prst="roundRect">
            <a:avLst>
              <a:gd fmla="val 10000" name="adj"/>
            </a:avLst>
          </a:prstGeom>
          <a:solidFill>
            <a:srgbClr val="131A2B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914400" y="516636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Takeaway:  </a:t>
            </a:r>
            <a:r>
              <a:rPr b="0" i="0" lang="en-US" sz="13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the search space was too conservative — shallow trees underfit this dataset. The untuned, fully-grown Random Forest scored higher on unseen data, so it shipped instead.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640080" y="502920"/>
            <a:ext cx="3072384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640080" y="502920"/>
            <a:ext cx="30723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FINAL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640080" y="9601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Production Model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00177" y="1506017"/>
            <a:ext cx="1057046" cy="1057046"/>
          </a:xfrm>
          <a:prstGeom prst="ellipse">
            <a:avLst/>
          </a:prstGeom>
          <a:solidFill>
            <a:srgbClr val="FB923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640080" y="1645920"/>
            <a:ext cx="777240" cy="77724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trophy.png" id="245" name="Google Shape;2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162" y="184800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 txBox="1"/>
          <p:nvPr/>
        </p:nvSpPr>
        <p:spPr>
          <a:xfrm>
            <a:off x="1600200" y="1737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Random Forest Classifier + SMOTE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1600200" y="20848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Selected after comparing 4 algorithms and a tuning experiment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40080" y="2926080"/>
            <a:ext cx="2514600" cy="1463040"/>
          </a:xfrm>
          <a:prstGeom prst="roundRect">
            <a:avLst>
              <a:gd fmla="val 750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841248" y="3072384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841248" y="3346704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74.87%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383280" y="2926080"/>
            <a:ext cx="2514600" cy="1463040"/>
          </a:xfrm>
          <a:prstGeom prst="roundRect">
            <a:avLst>
              <a:gd fmla="val 750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 txBox="1"/>
          <p:nvPr/>
        </p:nvSpPr>
        <p:spPr>
          <a:xfrm>
            <a:off x="3584448" y="3072384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PRECISION (MACRO)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3584448" y="3346704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72.36%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126480" y="2926080"/>
            <a:ext cx="2514600" cy="1463040"/>
          </a:xfrm>
          <a:prstGeom prst="roundRect">
            <a:avLst>
              <a:gd fmla="val 750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 txBox="1"/>
          <p:nvPr/>
        </p:nvSpPr>
        <p:spPr>
          <a:xfrm>
            <a:off x="6327648" y="3072384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RECALL (MACRO)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6327648" y="3346704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75.19%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869680" y="2926080"/>
            <a:ext cx="2514600" cy="1463040"/>
          </a:xfrm>
          <a:prstGeom prst="roundRect">
            <a:avLst>
              <a:gd fmla="val 750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9070848" y="3072384"/>
            <a:ext cx="2112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F1 SCORE (MACRO)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9070848" y="3346704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73.45%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 txBox="1"/>
          <p:nvPr/>
        </p:nvSpPr>
        <p:spPr>
          <a:xfrm>
            <a:off x="640080" y="4709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Model card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640080" y="516636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Algorithm:  </a:t>
            </a:r>
            <a:r>
              <a:rPr b="0" i="0" lang="en-US" sz="12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Random Forest Classifier (scikit-learn, default hyperparameters)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640080" y="548640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Imbalance handling:  </a:t>
            </a:r>
            <a:r>
              <a:rPr b="0" i="0" lang="en-US" sz="12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SMOTE oversampling on training folds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640080" y="580644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Validation:  </a:t>
            </a:r>
            <a:r>
              <a:rPr b="0" i="0" lang="en-US" sz="12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5-fold cross-validation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640080" y="612648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Classes:  </a:t>
            </a:r>
            <a:r>
              <a:rPr b="0" i="0" lang="en-US" sz="12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Good  ·  Standard  ·  Poor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/>
          <p:nvPr/>
        </p:nvSpPr>
        <p:spPr>
          <a:xfrm>
            <a:off x="640080" y="502920"/>
            <a:ext cx="3675888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640080" y="502920"/>
            <a:ext cx="3675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LIVE 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 txBox="1"/>
          <p:nvPr/>
        </p:nvSpPr>
        <p:spPr>
          <a:xfrm>
            <a:off x="640080" y="9601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The Streamlit App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640080" y="160020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A 4-page dashboard puts the whole project in one place — for analysts and end users alike.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creditcard.png" id="277" name="Google Shape;2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839" y="24167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1"/>
          <p:cNvSpPr txBox="1"/>
          <p:nvPr/>
        </p:nvSpPr>
        <p:spPr>
          <a:xfrm>
            <a:off x="1325880" y="2258568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About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 txBox="1"/>
          <p:nvPr/>
        </p:nvSpPr>
        <p:spPr>
          <a:xfrm>
            <a:off x="1325880" y="2542032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Project overview, snapshot stats, and tech stack.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chartpie.png" id="281" name="Google Shape;28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839" y="346831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1"/>
          <p:cNvSpPr txBox="1"/>
          <p:nvPr/>
        </p:nvSpPr>
        <p:spPr>
          <a:xfrm>
            <a:off x="1325880" y="3310128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Data Insight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1325880" y="3593592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Live EDA — distributions, correlations, breakdowns — computed straight from the dataset.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flask.png" id="285" name="Google Shape;28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0839" y="451987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 txBox="1"/>
          <p:nvPr/>
        </p:nvSpPr>
        <p:spPr>
          <a:xfrm>
            <a:off x="1325880" y="4361688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1325880" y="4645152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Interactive comparison of all 4 algorithms plus the tuning story.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laptop.png" id="289" name="Google Shape;28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0839" y="557143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1"/>
          <p:cNvSpPr txBox="1"/>
          <p:nvPr/>
        </p:nvSpPr>
        <p:spPr>
          <a:xfrm>
            <a:off x="1325880" y="5413248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1325880" y="5696712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Score one customer via a form, or a full CSV batch, with confidence per class.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6355080" y="2103120"/>
            <a:ext cx="5212080" cy="3977640"/>
          </a:xfrm>
          <a:prstGeom prst="roundRect">
            <a:avLst>
              <a:gd fmla="val 2299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confidence_screenshot.png" id="293" name="Google Shape;29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60" y="2286000"/>
            <a:ext cx="484632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1"/>
          <p:cNvSpPr txBox="1"/>
          <p:nvPr/>
        </p:nvSpPr>
        <p:spPr>
          <a:xfrm>
            <a:off x="6537960" y="45262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Real output — Prediction page confidence breakdown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6537960" y="498348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Batch CSV scoring, per-class confidence, and downloadable results round out the Prediction page.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"/>
          <p:cNvSpPr/>
          <p:nvPr/>
        </p:nvSpPr>
        <p:spPr>
          <a:xfrm>
            <a:off x="640080" y="502920"/>
            <a:ext cx="1865376" cy="347472"/>
          </a:xfrm>
          <a:prstGeom prst="roundRect">
            <a:avLst>
              <a:gd fmla="val 50000" name="adj"/>
            </a:avLst>
          </a:prstGeom>
          <a:solidFill>
            <a:srgbClr val="131A2B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 txBox="1"/>
          <p:nvPr/>
        </p:nvSpPr>
        <p:spPr>
          <a:xfrm>
            <a:off x="640080" y="502920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WRAP 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640080" y="9601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Tech Stack &amp; Next Steps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640080" y="1691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Built with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40080" y="2103120"/>
            <a:ext cx="1133856" cy="384048"/>
          </a:xfrm>
          <a:prstGeom prst="roundRect">
            <a:avLst>
              <a:gd fmla="val 2381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 txBox="1"/>
          <p:nvPr/>
        </p:nvSpPr>
        <p:spPr>
          <a:xfrm>
            <a:off x="640080" y="2103120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1938528" y="2103120"/>
            <a:ext cx="2157984" cy="384048"/>
          </a:xfrm>
          <a:prstGeom prst="roundRect">
            <a:avLst>
              <a:gd fmla="val 2381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1938528" y="210312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Pandas / NumPy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40080" y="2606040"/>
            <a:ext cx="1901952" cy="384048"/>
          </a:xfrm>
          <a:prstGeom prst="roundRect">
            <a:avLst>
              <a:gd fmla="val 2381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640080" y="2606040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40080" y="3108960"/>
            <a:ext cx="3438144" cy="384048"/>
          </a:xfrm>
          <a:prstGeom prst="roundRect">
            <a:avLst>
              <a:gd fmla="val 2381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"/>
          <p:cNvSpPr txBox="1"/>
          <p:nvPr/>
        </p:nvSpPr>
        <p:spPr>
          <a:xfrm>
            <a:off x="640080" y="3108960"/>
            <a:ext cx="34381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imbalanced-learn (SMOTE)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242816" y="3108960"/>
            <a:ext cx="1261872" cy="384048"/>
          </a:xfrm>
          <a:prstGeom prst="roundRect">
            <a:avLst>
              <a:gd fmla="val 2381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 txBox="1"/>
          <p:nvPr/>
        </p:nvSpPr>
        <p:spPr>
          <a:xfrm>
            <a:off x="4242816" y="3108960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640080" y="3611880"/>
            <a:ext cx="1133856" cy="384048"/>
          </a:xfrm>
          <a:prstGeom prst="roundRect">
            <a:avLst>
              <a:gd fmla="val 2381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 txBox="1"/>
          <p:nvPr/>
        </p:nvSpPr>
        <p:spPr>
          <a:xfrm>
            <a:off x="640080" y="3611880"/>
            <a:ext cx="11338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1938528" y="3611880"/>
            <a:ext cx="1517904" cy="384048"/>
          </a:xfrm>
          <a:prstGeom prst="roundRect">
            <a:avLst>
              <a:gd fmla="val 23810" name="adj"/>
            </a:avLst>
          </a:prstGeom>
          <a:solidFill>
            <a:srgbClr val="131A2B"/>
          </a:solidFill>
          <a:ln cap="flat" cmpd="sng" w="12700">
            <a:solidFill>
              <a:srgbClr val="232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 txBox="1"/>
          <p:nvPr/>
        </p:nvSpPr>
        <p:spPr>
          <a:xfrm>
            <a:off x="1938528" y="3611880"/>
            <a:ext cx="1517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6263640" y="1691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263640" y="2103120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check.png" id="323" name="Google Shape;3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718" y="2179198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 txBox="1"/>
          <p:nvPr/>
        </p:nvSpPr>
        <p:spPr>
          <a:xfrm>
            <a:off x="6720840" y="208483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Add SHAP-based explainability to the Prediction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6263640" y="2670048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check.png" id="326" name="Google Shape;3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718" y="2746126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 txBox="1"/>
          <p:nvPr/>
        </p:nvSpPr>
        <p:spPr>
          <a:xfrm>
            <a:off x="6720840" y="26517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Track model drift once real customer data arrives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6263640" y="3236976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check.png" id="329" name="Google Shape;3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718" y="3313054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2"/>
          <p:cNvSpPr txBox="1"/>
          <p:nvPr/>
        </p:nvSpPr>
        <p:spPr>
          <a:xfrm>
            <a:off x="6720840" y="3218688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Expand the tuning search space with a wider depth range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6263640" y="3803904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check.png" id="332" name="Google Shape;3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718" y="3879982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2"/>
          <p:cNvSpPr txBox="1"/>
          <p:nvPr/>
        </p:nvSpPr>
        <p:spPr>
          <a:xfrm>
            <a:off x="6720840" y="3785616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Add authentication for batch scoring in 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fmla="val 8889" name="adj"/>
            </a:avLst>
          </a:prstGeom>
          <a:solidFill>
            <a:srgbClr val="131A2B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In short:  </a:t>
            </a:r>
            <a:r>
              <a:rPr b="0" i="0" lang="en-US" sz="135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cleaned a genuinely messy 100k-row dataset, benchmarked 4 algorithms fairly with cross-validation, shipped a SMOTE-balanced Random Forest at 74.9% test accuracy, and wrapped it all in a live Streamlit app.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/>
          <p:nvPr/>
        </p:nvSpPr>
        <p:spPr>
          <a:xfrm>
            <a:off x="5148072" y="941832"/>
            <a:ext cx="1865376" cy="1865376"/>
          </a:xfrm>
          <a:prstGeom prst="ellipse">
            <a:avLst/>
          </a:prstGeom>
          <a:solidFill>
            <a:srgbClr val="FB923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rocket.png" id="345" name="Google Shape;3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1576" y="154533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3"/>
          <p:cNvSpPr txBox="1"/>
          <p:nvPr/>
        </p:nvSpPr>
        <p:spPr>
          <a:xfrm>
            <a:off x="1522476" y="2743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7EAF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1522476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 txBox="1"/>
          <p:nvPr/>
        </p:nvSpPr>
        <p:spPr>
          <a:xfrm>
            <a:off x="1522476" y="60350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3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3A7"/>
                </a:solidFill>
                <a:latin typeface="Calibri"/>
                <a:ea typeface="Calibri"/>
                <a:cs typeface="Calibri"/>
                <a:sym typeface="Calibri"/>
              </a:rPr>
              <a:t>Credit Score Prediction System  ·  Your 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2026-09-04T04:10:45Z</dcterms:created>
  <dc:creator>PptxGenJS</dc:creator>
</cp:coreProperties>
</file>